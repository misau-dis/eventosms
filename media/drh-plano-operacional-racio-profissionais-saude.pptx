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02" r:id="rId3"/>
    <p:sldId id="312" r:id="rId4"/>
    <p:sldId id="3336" r:id="rId5"/>
    <p:sldId id="3337" r:id="rId6"/>
    <p:sldId id="3338" r:id="rId7"/>
    <p:sldId id="342" r:id="rId8"/>
    <p:sldId id="3339" r:id="rId9"/>
    <p:sldId id="3340" r:id="rId10"/>
    <p:sldId id="3341" r:id="rId11"/>
    <p:sldId id="3350" r:id="rId12"/>
    <p:sldId id="3342" r:id="rId13"/>
    <p:sldId id="3343" r:id="rId14"/>
    <p:sldId id="3344" r:id="rId15"/>
    <p:sldId id="3345" r:id="rId16"/>
    <p:sldId id="3346" r:id="rId17"/>
    <p:sldId id="3348" r:id="rId18"/>
    <p:sldId id="3349" r:id="rId19"/>
  </p:sldIdLst>
  <p:sldSz cx="12192000" cy="6858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6979663-3820-4242-9A5C-9283B102D346}">
          <p14:sldIdLst>
            <p14:sldId id="256"/>
            <p14:sldId id="302"/>
            <p14:sldId id="312"/>
            <p14:sldId id="3336"/>
            <p14:sldId id="3337"/>
            <p14:sldId id="3338"/>
            <p14:sldId id="342"/>
            <p14:sldId id="3339"/>
            <p14:sldId id="3340"/>
            <p14:sldId id="3341"/>
            <p14:sldId id="3350"/>
            <p14:sldId id="3342"/>
            <p14:sldId id="3343"/>
            <p14:sldId id="3344"/>
            <p14:sldId id="3345"/>
            <p14:sldId id="3346"/>
            <p14:sldId id="3348"/>
            <p14:sldId id="3349"/>
          </p14:sldIdLst>
        </p14:section>
        <p14:section name="Untitled Section" id="{1B21895F-CDF5-4A5B-9FEE-90F3A62E6538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5" roundtripDataSignature="AMtx7mh3a0nLbOgLv/0F/kkpRsh7V84FM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99DA7D-415A-DD55-22D7-C50EFEDAA59A}" name="Jeremias Chone" initials="JC" userId="S::a21001309@ihmt.unl.pt::8f479a26-a136-4b98-b689-255a097dfede" providerId="AD"/>
  <p188:author id="{3BA28DAD-71B6-612E-6DA2-03AD8C069A54}" name="Chadreque Muluana" initials="CM" userId="40e0480815143bb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32F630-D11C-4FCA-89C4-1C1FA48ED219}">
  <a:tblStyle styleId="{3932F630-D11C-4FCA-89C4-1C1FA48ED21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AE9500F-5AFA-4E90-984D-D9C2030D67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ECB1FB-CE7A-433B-97CA-14B452086A3D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7BE855-1FC8-4F60-B1F1-C7B84394FD8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8"/>
    <p:restoredTop sz="87534" autoAdjust="0"/>
  </p:normalViewPr>
  <p:slideViewPr>
    <p:cSldViewPr snapToGrid="0">
      <p:cViewPr varScale="1">
        <p:scale>
          <a:sx n="69" d="100"/>
          <a:sy n="69" d="100"/>
        </p:scale>
        <p:origin x="13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90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8" Type="http://schemas.openxmlformats.org/officeDocument/2006/relationships/slide" Target="slides/slide7.xml"/><Relationship Id="rId8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7" name="Google Shape;437;g3cc8c60d18d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7866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441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05EF0608-1595-49B7-C037-3236BEFB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EB91C07F-E999-0B7D-DF7D-B63F43E9B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6B92B640-F314-700B-CBF0-D98121E35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1137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978DA114-5B0F-95E6-2699-A353033A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CA0F9ACD-9C42-24AB-F582-C39E9886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BD7B6651-0F15-06DC-3A22-7BF929724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9466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61FA861D-2533-DE99-4D64-4F41C893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F3F529F4-7233-1167-B10F-B2C541681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08042D34-4AD7-4273-2423-972F8FBAC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2291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0DE83449-8DC3-93A4-37D1-3E9669E1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E5DE0F78-A3C3-8160-EDD1-F803B3471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588D49CA-A09F-80B6-9D0C-EB04E386E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0364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999254F3-9724-B70B-CDA3-14CE92E1B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BE26E3AD-9F33-FF14-7AA6-07BA34ECA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pt-PT" dirty="0"/>
              <a:t>Para o cenário mudar em 2029, deve-se acrescentar um </a:t>
            </a:r>
            <a:r>
              <a:rPr lang="pt-PT" dirty="0" err="1"/>
              <a:t>efectivo</a:t>
            </a:r>
            <a:r>
              <a:rPr lang="pt-PT" dirty="0"/>
              <a:t> de 9.649 para Nampula; 8.492 para Zambézia e 3.687 para Tete</a:t>
            </a: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38AE843B-C895-D693-BAB9-FADC954AB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4762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DFA117EB-0FDC-B0F1-EEFF-43C2D0BA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C64C9F06-9489-0FB5-84E7-A66A68352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pt-PT" dirty="0"/>
              <a:t>Para o cenário mudar em 2029, deve-se acrescentar um </a:t>
            </a:r>
            <a:r>
              <a:rPr lang="pt-PT" dirty="0" err="1"/>
              <a:t>efectivo</a:t>
            </a:r>
            <a:r>
              <a:rPr lang="pt-PT" dirty="0"/>
              <a:t> de 9.649 para Nampula; 8.492 para Zambézia e 3.687 para Tete</a:t>
            </a: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66A12BBB-8865-84C2-F9FD-E79830D4A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518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2A6F037C-2867-F00F-53F9-EE58E196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49BB3C32-62E7-BC76-CDF0-61EA16991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285CF4C5-1DF2-C962-FEDC-BCB52A2C5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821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E2335A32-A5D1-7088-E015-79F2C9B0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324AE49B-7A7C-94B5-FF8D-6ED19A4BA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B345C6C0-F63C-C378-C8C4-3BB239781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610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37AD240A-3E76-1D8C-CB50-B035BFCF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A7BA9423-6FA6-1BEF-E0AC-9D760559B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E8143270-81EB-9033-4BC0-7E40E17B7F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8182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918C3398-BC01-612E-216B-CD04054E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BE83348B-2F86-49AB-3E8D-D0D4CA57B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62E5797C-754B-D9CF-D423-939501E20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3385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31AFCD0A-8F19-1B64-B68F-B1AF6537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8c60d18d_4_255:notes">
            <a:extLst>
              <a:ext uri="{FF2B5EF4-FFF2-40B4-BE49-F238E27FC236}">
                <a16:creationId xmlns:a16="http://schemas.microsoft.com/office/drawing/2014/main" id="{69315338-CAEB-E1F7-997D-B93E13046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7" name="Google Shape;437;g3cc8c60d18d_4_255:notes">
            <a:extLst>
              <a:ext uri="{FF2B5EF4-FFF2-40B4-BE49-F238E27FC236}">
                <a16:creationId xmlns:a16="http://schemas.microsoft.com/office/drawing/2014/main" id="{57236468-320D-2FBC-433F-D25B8181D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570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tx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6pPr>
            <a:lvl7pPr marL="3200400" lvl="6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>
              <a:buClr>
                <a:srgbClr val="000000"/>
              </a:buClr>
              <a:buSzPts val="3200"/>
              <a:buFont typeface="Arial"/>
              <a:buNone/>
              <a:defRPr sz="2000" b="1">
                <a:solidFill>
                  <a:schemeClr val="tx1"/>
                </a:solidFill>
                <a:highlight>
                  <a:srgbClr val="00FFFF"/>
                </a:highlight>
              </a:defRPr>
            </a:lvl1pPr>
            <a:lvl2pPr marL="0" lvl="1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2pPr>
            <a:lvl3pPr marL="0" lvl="2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3pPr>
            <a:lvl4pPr marL="0" lvl="3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4pPr>
            <a:lvl5pPr marL="0" lvl="4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5pPr>
            <a:lvl6pPr marL="0" lvl="5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6pPr>
            <a:lvl7pPr marL="0" lvl="6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7pPr>
            <a:lvl8pPr marL="0" lvl="7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8pPr>
            <a:lvl9pPr marL="0" lvl="8" indent="0">
              <a:buClr>
                <a:srgbClr val="000000"/>
              </a:buClr>
              <a:buSzPts val="3200"/>
              <a:buFont typeface="Arial"/>
              <a:buNone/>
              <a:defRPr sz="2000" b="1">
                <a:highlight>
                  <a:srgbClr val="00FFFF"/>
                </a:highlight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Google Shape;39;p10"/>
          <p:cNvSpPr/>
          <p:nvPr/>
        </p:nvSpPr>
        <p:spPr>
          <a:xfrm>
            <a:off x="8" y="894528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684212" y="685799"/>
            <a:ext cx="8001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tx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Google Shape;46;p1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8" name="Google Shape;48;p13"/>
          <p:cNvCxnSpPr/>
          <p:nvPr/>
        </p:nvCxnSpPr>
        <p:spPr>
          <a:xfrm flipH="1">
            <a:off x="8228012" y="8467"/>
            <a:ext cx="3810000" cy="3810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13"/>
          <p:cNvCxnSpPr/>
          <p:nvPr/>
        </p:nvCxnSpPr>
        <p:spPr>
          <a:xfrm flipH="1">
            <a:off x="6108125" y="91545"/>
            <a:ext cx="6080700" cy="6080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50;p13"/>
          <p:cNvCxnSpPr/>
          <p:nvPr/>
        </p:nvCxnSpPr>
        <p:spPr>
          <a:xfrm flipH="1">
            <a:off x="7235825" y="228600"/>
            <a:ext cx="4953000" cy="4953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13"/>
          <p:cNvCxnSpPr/>
          <p:nvPr/>
        </p:nvCxnSpPr>
        <p:spPr>
          <a:xfrm flipH="1">
            <a:off x="7335726" y="32278"/>
            <a:ext cx="4853100" cy="4853100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13"/>
          <p:cNvCxnSpPr/>
          <p:nvPr/>
        </p:nvCxnSpPr>
        <p:spPr>
          <a:xfrm flipH="1">
            <a:off x="7845425" y="609601"/>
            <a:ext cx="4343400" cy="4343400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13"/>
          <p:cNvSpPr/>
          <p:nvPr/>
        </p:nvSpPr>
        <p:spPr>
          <a:xfrm>
            <a:off x="8" y="894528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 sz="2800" b="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989012" y="914400"/>
            <a:ext cx="3281100" cy="4572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4722812" y="2777066"/>
            <a:ext cx="6021300" cy="2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1" name="Google Shape;71;p17"/>
          <p:cNvSpPr/>
          <p:nvPr/>
        </p:nvSpPr>
        <p:spPr>
          <a:xfrm>
            <a:off x="351558" y="948278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550" y="53750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None/>
              <a:defRPr sz="3200" b="0" cap="none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684212" y="4114800"/>
            <a:ext cx="85359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Google Shape;80;p19"/>
          <p:cNvSpPr/>
          <p:nvPr/>
        </p:nvSpPr>
        <p:spPr>
          <a:xfrm>
            <a:off x="732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2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1141411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None/>
              <a:defRPr sz="3200" b="0" cap="none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2"/>
          </p:nvPr>
        </p:nvSpPr>
        <p:spPr>
          <a:xfrm>
            <a:off x="684213" y="4301067"/>
            <a:ext cx="8534400" cy="1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 dirty="0"/>
          </a:p>
        </p:txBody>
      </p:sp>
      <p:sp>
        <p:nvSpPr>
          <p:cNvPr id="87" name="Google Shape;87;p2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0" name="Google Shape;90;p20"/>
          <p:cNvSpPr txBox="1"/>
          <p:nvPr/>
        </p:nvSpPr>
        <p:spPr>
          <a:xfrm>
            <a:off x="531812" y="81222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0"/>
          <p:cNvSpPr txBox="1"/>
          <p:nvPr/>
        </p:nvSpPr>
        <p:spPr>
          <a:xfrm>
            <a:off x="10285412" y="2768601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0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None/>
              <a:defRPr sz="3200" b="0" cap="none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1"/>
          </p:nvPr>
        </p:nvSpPr>
        <p:spPr>
          <a:xfrm>
            <a:off x="684211" y="5132981"/>
            <a:ext cx="85359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Google Shape;99;p2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" name="Google Shape;102;p21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None/>
              <a:defRPr sz="3200" b="0" cap="none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tx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684211" y="4978400"/>
            <a:ext cx="85344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Google Shape;109;p2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1" name="Google Shape;111;p22"/>
          <p:cNvSpPr txBox="1"/>
          <p:nvPr/>
        </p:nvSpPr>
        <p:spPr>
          <a:xfrm>
            <a:off x="531812" y="81222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10285412" y="2768601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entury Gothic"/>
              <a:buNone/>
              <a:defRPr b="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tx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2"/>
          </p:nvPr>
        </p:nvSpPr>
        <p:spPr>
          <a:xfrm>
            <a:off x="684211" y="4766732"/>
            <a:ext cx="8534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4" name="Google Shape;124;p23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entury Gothic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 rot="5400000">
            <a:off x="3143762" y="-1773749"/>
            <a:ext cx="361530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>
                <a:solidFill>
                  <a:schemeClr val="tx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0" name="Google Shape;130;p2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1" name="Google Shape;131;p2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3" name="Google Shape;133;p24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 rot="5400000">
            <a:off x="7427912" y="1943100"/>
            <a:ext cx="4572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 rot="5400000">
            <a:off x="1943200" y="-571500"/>
            <a:ext cx="5308500" cy="78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>
                <a:solidFill>
                  <a:schemeClr val="tx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 dirty="0"/>
          </a:p>
        </p:txBody>
      </p:sp>
      <p:sp>
        <p:nvSpPr>
          <p:cNvPr id="138" name="Google Shape;138;p2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9" name="Google Shape;139;p2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2" name="Google Shape;142;p25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MISAU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7F0FA"/>
            </a:gs>
            <a:gs pos="97000">
              <a:schemeClr val="lt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8C80A6-120B-668F-B0B5-01ACD41755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/>
        </p:nvSpPr>
        <p:spPr>
          <a:xfrm>
            <a:off x="3162521" y="5912424"/>
            <a:ext cx="5490300" cy="24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PT" sz="1300" i="0" u="none" strike="noStrike" cap="none" noProof="0" dirty="0">
                <a:solidFill>
                  <a:schemeClr val="tx1"/>
                </a:solidFill>
              </a:rPr>
              <a:t>Maputo, Setembro de 2026</a:t>
            </a:r>
            <a:endParaRPr lang="pt-PT" sz="900" i="0" u="none" strike="noStrike" cap="none" noProof="0" dirty="0">
              <a:solidFill>
                <a:schemeClr val="tx1"/>
              </a:solidFill>
            </a:endParaRPr>
          </a:p>
        </p:txBody>
      </p:sp>
      <p:sp>
        <p:nvSpPr>
          <p:cNvPr id="2" name="Google Shape;25;p8">
            <a:extLst>
              <a:ext uri="{FF2B5EF4-FFF2-40B4-BE49-F238E27FC236}">
                <a16:creationId xmlns:a16="http://schemas.microsoft.com/office/drawing/2014/main" id="{4BC7DCF8-8888-3286-356D-899FA4739776}"/>
              </a:ext>
            </a:extLst>
          </p:cNvPr>
          <p:cNvSpPr txBox="1"/>
          <p:nvPr/>
        </p:nvSpPr>
        <p:spPr>
          <a:xfrm>
            <a:off x="310714" y="2806147"/>
            <a:ext cx="11345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b="1" dirty="0">
                <a:solidFill>
                  <a:schemeClr val="tx1"/>
                </a:solidFill>
                <a:latin typeface="+mj-lt"/>
              </a:rPr>
              <a:t>LI CONSELHO COORDENADOR DE SAÚDE</a:t>
            </a:r>
            <a:endParaRPr lang="pt-PT" sz="3200" b="1" dirty="0">
              <a:solidFill>
                <a:schemeClr val="tx1"/>
              </a:solidFill>
              <a:latin typeface="+mj-lt"/>
              <a:sym typeface="Century Gothic"/>
            </a:endParaRPr>
          </a:p>
        </p:txBody>
      </p:sp>
      <p:sp>
        <p:nvSpPr>
          <p:cNvPr id="3" name="Google Shape;26;p8">
            <a:extLst>
              <a:ext uri="{FF2B5EF4-FFF2-40B4-BE49-F238E27FC236}">
                <a16:creationId xmlns:a16="http://schemas.microsoft.com/office/drawing/2014/main" id="{CFCD370B-A526-4D19-E675-41889EAE904C}"/>
              </a:ext>
            </a:extLst>
          </p:cNvPr>
          <p:cNvSpPr txBox="1"/>
          <p:nvPr/>
        </p:nvSpPr>
        <p:spPr>
          <a:xfrm>
            <a:off x="721360" y="3513246"/>
            <a:ext cx="10444480" cy="1691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buClr>
                <a:schemeClr val="dk1"/>
              </a:buClr>
              <a:buSzPts val="1800"/>
              <a:buNone/>
              <a:defRPr sz="2800" b="1">
                <a:solidFill>
                  <a:schemeClr val="tx1"/>
                </a:solidFill>
                <a:latin typeface="+mj-lt"/>
                <a:ea typeface="Century Gothic"/>
                <a:sym typeface="Century Gothic"/>
              </a:defRPr>
            </a:lvl1pPr>
            <a:lvl2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pt-BR" sz="3200" dirty="0">
                <a:sym typeface="Arial"/>
              </a:rPr>
              <a:t>Proposta do Plano Operacional Para Melhoria do Rácio de Profissionais de Saúde nas Províncias de Nampula, Zambézia e Tete, 2027 - 2029</a:t>
            </a:r>
          </a:p>
        </p:txBody>
      </p:sp>
      <p:sp>
        <p:nvSpPr>
          <p:cNvPr id="6" name="Google Shape;29;p8">
            <a:extLst>
              <a:ext uri="{FF2B5EF4-FFF2-40B4-BE49-F238E27FC236}">
                <a16:creationId xmlns:a16="http://schemas.microsoft.com/office/drawing/2014/main" id="{622FFAD9-FA2B-D33B-6EF1-09EEF3042772}"/>
              </a:ext>
            </a:extLst>
          </p:cNvPr>
          <p:cNvSpPr/>
          <p:nvPr/>
        </p:nvSpPr>
        <p:spPr>
          <a:xfrm>
            <a:off x="4658913" y="2252111"/>
            <a:ext cx="26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i="0" u="none" strike="noStrike" cap="none" noProof="0" dirty="0">
                <a:solidFill>
                  <a:schemeClr val="dk1"/>
                </a:solidFill>
              </a:rPr>
              <a:t>Ministério da Saúde</a:t>
            </a:r>
            <a:endParaRPr lang="pt-PT" sz="2000" b="1" noProof="0" dirty="0"/>
          </a:p>
        </p:txBody>
      </p:sp>
      <p:sp>
        <p:nvSpPr>
          <p:cNvPr id="7" name="Google Shape;31;p8">
            <a:extLst>
              <a:ext uri="{FF2B5EF4-FFF2-40B4-BE49-F238E27FC236}">
                <a16:creationId xmlns:a16="http://schemas.microsoft.com/office/drawing/2014/main" id="{18C6FEE1-91C4-940A-5B51-5DCEEDE9915C}"/>
              </a:ext>
            </a:extLst>
          </p:cNvPr>
          <p:cNvSpPr txBox="1"/>
          <p:nvPr/>
        </p:nvSpPr>
        <p:spPr>
          <a:xfrm>
            <a:off x="3978363" y="6290791"/>
            <a:ext cx="401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noProof="0" dirty="0">
                <a:solidFill>
                  <a:srgbClr val="050A30"/>
                </a:solidFill>
              </a:rPr>
              <a:t>O NOSSO MAIOR VALOR É A VIDA</a:t>
            </a:r>
            <a:endParaRPr lang="pt-PT" noProof="0" dirty="0"/>
          </a:p>
        </p:txBody>
      </p:sp>
      <p:pic>
        <p:nvPicPr>
          <p:cNvPr id="10" name="Google Shape;32;p8">
            <a:extLst>
              <a:ext uri="{FF2B5EF4-FFF2-40B4-BE49-F238E27FC236}">
                <a16:creationId xmlns:a16="http://schemas.microsoft.com/office/drawing/2014/main" id="{DE2DCA21-932C-20B4-A343-3DCA791D3E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751" y="157625"/>
            <a:ext cx="2147325" cy="20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6;p8">
            <a:extLst>
              <a:ext uri="{FF2B5EF4-FFF2-40B4-BE49-F238E27FC236}">
                <a16:creationId xmlns:a16="http://schemas.microsoft.com/office/drawing/2014/main" id="{EC44286B-C33A-5988-F0E0-7A9D7DEAE211}"/>
              </a:ext>
            </a:extLst>
          </p:cNvPr>
          <p:cNvSpPr txBox="1"/>
          <p:nvPr/>
        </p:nvSpPr>
        <p:spPr>
          <a:xfrm>
            <a:off x="1299713" y="5466113"/>
            <a:ext cx="9592574" cy="184666"/>
          </a:xfrm>
          <a:prstGeom prst="rect">
            <a:avLst/>
          </a:prstGeom>
          <a:solidFill>
            <a:schemeClr val="bg1">
              <a:alpha val="89803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stA="52000" endA="300" endPos="35000" sy="-100000" algn="bl" rotWithShape="0"/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1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um Serviço de Saúde Nacional de Saúde de Qualidade e Humanizado para Todos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/>
          <p:cNvSpPr txBox="1">
            <a:spLocks noGrp="1"/>
          </p:cNvSpPr>
          <p:nvPr>
            <p:ph type="sldNum" idx="12"/>
          </p:nvPr>
        </p:nvSpPr>
        <p:spPr>
          <a:xfrm>
            <a:off x="10493692" y="6459221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DCAA73-D8ED-CFD1-04F6-78D34B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0" y="71120"/>
            <a:ext cx="10637520" cy="995680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PT" sz="2800" b="1" dirty="0">
                <a:latin typeface="+mj-lt"/>
                <a:cs typeface="Arial"/>
              </a:rPr>
              <a:t>Estrutura da Apresentação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F2E813-444D-952B-70C1-194FBFDCF52A}"/>
              </a:ext>
            </a:extLst>
          </p:cNvPr>
          <p:cNvGrpSpPr/>
          <p:nvPr/>
        </p:nvGrpSpPr>
        <p:grpSpPr>
          <a:xfrm>
            <a:off x="1553944" y="1334822"/>
            <a:ext cx="8476989" cy="4984697"/>
            <a:chOff x="3826449" y="397096"/>
            <a:chExt cx="8102198" cy="41959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D65EB1-F087-A1B8-95AE-BA9B140E8F07}"/>
                </a:ext>
              </a:extLst>
            </p:cNvPr>
            <p:cNvSpPr/>
            <p:nvPr/>
          </p:nvSpPr>
          <p:spPr>
            <a:xfrm>
              <a:off x="3847305" y="397096"/>
              <a:ext cx="8060488" cy="4188353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EE16918-0403-F229-3CB7-238CB18A50B2}"/>
                </a:ext>
              </a:extLst>
            </p:cNvPr>
            <p:cNvSpPr/>
            <p:nvPr/>
          </p:nvSpPr>
          <p:spPr>
            <a:xfrm>
              <a:off x="3868160" y="397096"/>
              <a:ext cx="8039632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2200" b="1" kern="1200" dirty="0">
                  <a:solidFill>
                    <a:schemeClr val="bg1"/>
                  </a:solidFill>
                </a:rPr>
                <a:t>OBJECTIVO DA APRESENTAÇÃO</a:t>
              </a:r>
              <a:endParaRPr lang="en-US" sz="22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2EA04E-D2F6-C26B-5983-2DB77148499B}"/>
                </a:ext>
              </a:extLst>
            </p:cNvPr>
            <p:cNvSpPr/>
            <p:nvPr/>
          </p:nvSpPr>
          <p:spPr>
            <a:xfrm>
              <a:off x="3847304" y="988540"/>
              <a:ext cx="8039633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2200" b="1" kern="1200" dirty="0">
                  <a:solidFill>
                    <a:schemeClr val="bg1"/>
                  </a:solidFill>
                </a:rPr>
                <a:t>CONTEXTUALIZAÇÃO</a:t>
              </a:r>
              <a:endParaRPr lang="en-US" sz="22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4E05C0-0757-FA9D-06C1-51C0A3AEDD22}"/>
                </a:ext>
              </a:extLst>
            </p:cNvPr>
            <p:cNvSpPr/>
            <p:nvPr/>
          </p:nvSpPr>
          <p:spPr>
            <a:xfrm>
              <a:off x="3857732" y="1614384"/>
              <a:ext cx="8060488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2200" b="1" kern="1200" dirty="0">
                  <a:solidFill>
                    <a:schemeClr val="bg1"/>
                  </a:solidFill>
                </a:rPr>
                <a:t>OBJECTIVOS DO PLANO</a:t>
              </a:r>
              <a:endParaRPr lang="en-US" sz="22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063CD1C-58C0-5636-D28C-784E98833A84}"/>
                </a:ext>
              </a:extLst>
            </p:cNvPr>
            <p:cNvSpPr/>
            <p:nvPr/>
          </p:nvSpPr>
          <p:spPr>
            <a:xfrm>
              <a:off x="3868159" y="2240228"/>
              <a:ext cx="8060488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200" b="1" kern="1200" dirty="0">
                  <a:solidFill>
                    <a:schemeClr val="bg1"/>
                  </a:solidFill>
                </a:rPr>
                <a:t>PROJECÇÕES DE RHS PARA NAMPULA, ZAMBÉZIA E TETE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B73D61D-ED34-1E05-DED2-8F1ED8ECAD6B}"/>
                </a:ext>
              </a:extLst>
            </p:cNvPr>
            <p:cNvSpPr/>
            <p:nvPr/>
          </p:nvSpPr>
          <p:spPr>
            <a:xfrm>
              <a:off x="3826449" y="3461745"/>
              <a:ext cx="8060488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200" b="1" kern="1200" dirty="0">
                  <a:solidFill>
                    <a:schemeClr val="bg1"/>
                  </a:solidFill>
                </a:rPr>
                <a:t>MATRIZ OPERACIONAL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275496-7B98-59FA-5284-F98387E45BAA}"/>
                </a:ext>
              </a:extLst>
            </p:cNvPr>
            <p:cNvSpPr/>
            <p:nvPr/>
          </p:nvSpPr>
          <p:spPr>
            <a:xfrm>
              <a:off x="3836672" y="4096640"/>
              <a:ext cx="8060488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200" b="1" kern="1200" dirty="0">
                  <a:solidFill>
                    <a:schemeClr val="bg1"/>
                  </a:solidFill>
                </a:rPr>
                <a:t>RISCOS DE IMPLEMENTAÇÃO E MEDIDAS DE MITIGAÇÃO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A7EAF7-7657-33D7-0849-5F918B6BFC9B}"/>
                </a:ext>
              </a:extLst>
            </p:cNvPr>
            <p:cNvSpPr/>
            <p:nvPr/>
          </p:nvSpPr>
          <p:spPr>
            <a:xfrm>
              <a:off x="3826451" y="2866073"/>
              <a:ext cx="8060488" cy="496431"/>
            </a:xfrm>
            <a:custGeom>
              <a:avLst/>
              <a:gdLst>
                <a:gd name="connsiteX0" fmla="*/ 0 w 8008417"/>
                <a:gd name="connsiteY0" fmla="*/ 82740 h 496431"/>
                <a:gd name="connsiteX1" fmla="*/ 82740 w 8008417"/>
                <a:gd name="connsiteY1" fmla="*/ 0 h 496431"/>
                <a:gd name="connsiteX2" fmla="*/ 7925677 w 8008417"/>
                <a:gd name="connsiteY2" fmla="*/ 0 h 496431"/>
                <a:gd name="connsiteX3" fmla="*/ 8008417 w 8008417"/>
                <a:gd name="connsiteY3" fmla="*/ 82740 h 496431"/>
                <a:gd name="connsiteX4" fmla="*/ 8008417 w 8008417"/>
                <a:gd name="connsiteY4" fmla="*/ 413691 h 496431"/>
                <a:gd name="connsiteX5" fmla="*/ 7925677 w 8008417"/>
                <a:gd name="connsiteY5" fmla="*/ 496431 h 496431"/>
                <a:gd name="connsiteX6" fmla="*/ 82740 w 8008417"/>
                <a:gd name="connsiteY6" fmla="*/ 496431 h 496431"/>
                <a:gd name="connsiteX7" fmla="*/ 0 w 8008417"/>
                <a:gd name="connsiteY7" fmla="*/ 413691 h 496431"/>
                <a:gd name="connsiteX8" fmla="*/ 0 w 8008417"/>
                <a:gd name="connsiteY8" fmla="*/ 82740 h 49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08417" h="496431">
                  <a:moveTo>
                    <a:pt x="0" y="82740"/>
                  </a:moveTo>
                  <a:cubicBezTo>
                    <a:pt x="0" y="37044"/>
                    <a:pt x="37044" y="0"/>
                    <a:pt x="82740" y="0"/>
                  </a:cubicBezTo>
                  <a:lnTo>
                    <a:pt x="7925677" y="0"/>
                  </a:lnTo>
                  <a:cubicBezTo>
                    <a:pt x="7971373" y="0"/>
                    <a:pt x="8008417" y="37044"/>
                    <a:pt x="8008417" y="82740"/>
                  </a:cubicBezTo>
                  <a:lnTo>
                    <a:pt x="8008417" y="413691"/>
                  </a:lnTo>
                  <a:cubicBezTo>
                    <a:pt x="8008417" y="459387"/>
                    <a:pt x="7971373" y="496431"/>
                    <a:pt x="7925677" y="496431"/>
                  </a:cubicBezTo>
                  <a:lnTo>
                    <a:pt x="82740" y="496431"/>
                  </a:lnTo>
                  <a:cubicBezTo>
                    <a:pt x="37044" y="496431"/>
                    <a:pt x="0" y="459387"/>
                    <a:pt x="0" y="413691"/>
                  </a:cubicBezTo>
                  <a:lnTo>
                    <a:pt x="0" y="827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0914" tIns="130914" rIns="130914" bIns="130914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200" b="1" kern="1200" dirty="0">
                  <a:solidFill>
                    <a:schemeClr val="bg1"/>
                  </a:solidFill>
                </a:rPr>
                <a:t>IMPACTO ORÇAMENTAL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2AEB-2C63-5F6C-BB75-1BF919B2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167E-66B7-ACD2-988C-50EC4CD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832" y="184334"/>
            <a:ext cx="7453223" cy="584776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PT" sz="2800" b="1" dirty="0" err="1">
                <a:latin typeface="+mj-lt"/>
                <a:cs typeface="Arial"/>
              </a:rPr>
              <a:t>Objectivo</a:t>
            </a:r>
            <a:r>
              <a:rPr lang="pt-PT" sz="2800" b="1" dirty="0">
                <a:latin typeface="+mj-lt"/>
                <a:cs typeface="Arial"/>
              </a:rPr>
              <a:t> da Apresentação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DCC62-FF25-1A6B-7749-6A07FF3B2C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91800" y="6396307"/>
            <a:ext cx="1600200" cy="365100"/>
          </a:xfrm>
        </p:spPr>
        <p:txBody>
          <a:bodyPr/>
          <a:lstStyle/>
          <a:p>
            <a:fld id="{00000000-1234-1234-1234-123412341234}" type="slidenum">
              <a:rPr lang="pt-PT" noProof="0" smtClean="0"/>
              <a:pPr/>
              <a:t>3</a:t>
            </a:fld>
            <a:endParaRPr lang="pt-PT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C693B-E20C-14F5-3957-F43640C69791}"/>
              </a:ext>
            </a:extLst>
          </p:cNvPr>
          <p:cNvSpPr/>
          <p:nvPr/>
        </p:nvSpPr>
        <p:spPr>
          <a:xfrm>
            <a:off x="623392" y="1772816"/>
            <a:ext cx="10369152" cy="2284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pt-BR" sz="2200" dirty="0">
                <a:solidFill>
                  <a:schemeClr val="tx1"/>
                </a:solidFill>
                <a:latin typeface="+mj-lt"/>
                <a:sym typeface="Century Gothic"/>
              </a:rPr>
              <a:t>Partilhar a proposta do Plano Operacional para Melhoria do Rácio de Profissionais de Saúde nas Províncias de Nampula, Zambézia e Tete, no período de 2027 a 2029.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pt-BR" sz="2800" kern="1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PT" sz="2800" kern="100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1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/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DCAA73-D8ED-CFD1-04F6-78D34B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0" y="71120"/>
            <a:ext cx="10873740" cy="65322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PT" sz="2800" b="1" dirty="0">
                <a:latin typeface="+mj-lt"/>
                <a:cs typeface="Arial"/>
              </a:rPr>
              <a:t>Contextualização (1/2)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44A77D-F40C-6955-F788-9F7717E893BE}"/>
              </a:ext>
            </a:extLst>
          </p:cNvPr>
          <p:cNvSpPr/>
          <p:nvPr/>
        </p:nvSpPr>
        <p:spPr>
          <a:xfrm>
            <a:off x="263352" y="1268760"/>
            <a:ext cx="1073531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/>
                </a:solidFill>
                <a:latin typeface="+mj-lt"/>
              </a:rPr>
              <a:t>Entre 2020 e 2026, as vagas atribuídas ao sector da saúde reduziram significativamente, passando de 4.846, em 2020 para 582 vagas, em 2026, correspondente à 89%.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tx1"/>
              </a:solidFill>
              <a:latin typeface="+mj-lt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/>
                </a:solidFill>
                <a:latin typeface="+mj-lt"/>
              </a:rPr>
              <a:t> A redução progressiva do provimento compromete a capacidade do Serviço Nacional de Saúde de garantir uma cobertura assistencial adequada e equitativa às necessidade de saúde da população;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tx1"/>
              </a:solidFill>
              <a:latin typeface="+mj-lt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/>
                </a:solidFill>
                <a:latin typeface="+mj-lt"/>
              </a:rPr>
              <a:t>Em 2025, o rácio de profissionais do regime especial de saúde situou-se em 14 por 10.000 habitantes, permanecendo abaixo dos referenciais internacionais estabelecidos para a Cobertura Universal de Saúde (55.7 até 2035) e para os Objectivos de Desenvolvimento Sustentável (23 até 2030);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200" dirty="0"/>
          </a:p>
          <a:p>
            <a:pPr algn="just">
              <a:spcAft>
                <a:spcPts val="800"/>
              </a:spcAft>
            </a:pPr>
            <a:endParaRPr lang="pt-BR" sz="8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69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73AF9EA7-B59D-0EA5-8D6D-0456E881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80C8A264-98E7-5AA5-A399-A72E3EB629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48E73-377C-4B60-5084-84027CAF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0" y="71120"/>
            <a:ext cx="10873740" cy="65322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PT" sz="2800" b="1" dirty="0">
                <a:latin typeface="+mj-lt"/>
                <a:cs typeface="Arial"/>
              </a:rPr>
              <a:t>Contextualização (2/2)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B6A38-6F0F-AB9A-EDE5-F09829F1286A}"/>
              </a:ext>
            </a:extLst>
          </p:cNvPr>
          <p:cNvSpPr/>
          <p:nvPr/>
        </p:nvSpPr>
        <p:spPr>
          <a:xfrm>
            <a:off x="263352" y="1268760"/>
            <a:ext cx="10735310" cy="5334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/>
                </a:solidFill>
                <a:latin typeface="+mj-lt"/>
              </a:rPr>
              <a:t>Entre 2020 e 2026, Nampula, Zambézia e Tete receberam cerca de 35% das vagas atribuídas a nível nacional, contudo apresentam rácios abaixo da média nacional;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tx1"/>
              </a:solidFill>
              <a:latin typeface="+mj-lt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/>
                </a:solidFill>
                <a:latin typeface="+mj-lt"/>
              </a:rPr>
              <a:t>Este cenário evidencia desafios e assimetrias na distribuição e retenção de profissionais de saúde, agravadas por limitações nas condições de trabalho, insuficiência de incentivos financeiros e não financeiros;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200" dirty="0">
              <a:solidFill>
                <a:schemeClr val="tx1"/>
              </a:solidFill>
              <a:latin typeface="+mj-lt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/>
                </a:solidFill>
                <a:latin typeface="+mj-lt"/>
              </a:rPr>
              <a:t>Neste contexto, pretende-se partilhar a proposta de um Plano Operacional para melhoria do rácio de profissionais de saúde nas províncias de Nampula, Zambézia e Tete.</a:t>
            </a:r>
          </a:p>
          <a:p>
            <a:pPr algn="just">
              <a:spcAft>
                <a:spcPts val="800"/>
              </a:spcAft>
            </a:pPr>
            <a:endParaRPr lang="pt-BR" sz="2200" dirty="0">
              <a:solidFill>
                <a:schemeClr val="tx1"/>
              </a:solidFill>
              <a:latin typeface="Century Gothic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200" dirty="0"/>
          </a:p>
          <a:p>
            <a:pPr algn="just">
              <a:spcAft>
                <a:spcPts val="800"/>
              </a:spcAft>
            </a:pPr>
            <a:endParaRPr lang="pt-BR" sz="8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3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D595D5EE-9093-392A-C852-E4798F95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E13028EB-158F-CFF6-6B6C-43641D61D7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F7E043-C8D1-7875-5521-5D078AC7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0" y="71120"/>
            <a:ext cx="10873740" cy="65322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PT" sz="2800" b="1" dirty="0" err="1">
                <a:latin typeface="+mj-lt"/>
                <a:cs typeface="Arial"/>
              </a:rPr>
              <a:t>Objectivo</a:t>
            </a:r>
            <a:r>
              <a:rPr lang="pt-PT" sz="2800" b="1" dirty="0">
                <a:latin typeface="+mj-lt"/>
                <a:cs typeface="Arial"/>
              </a:rPr>
              <a:t> do Plano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1D2997-CB20-8361-5433-C1D7EB1ED058}"/>
              </a:ext>
            </a:extLst>
          </p:cNvPr>
          <p:cNvSpPr/>
          <p:nvPr/>
        </p:nvSpPr>
        <p:spPr>
          <a:xfrm>
            <a:off x="519152" y="1394939"/>
            <a:ext cx="10769600" cy="4411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pt-BR" sz="2200" b="1" dirty="0">
                <a:solidFill>
                  <a:schemeClr val="tx1"/>
                </a:solidFill>
                <a:latin typeface="+mj-lt"/>
              </a:rPr>
              <a:t>Objectivo Geral</a:t>
            </a:r>
          </a:p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Melhorar o rácio nas Províncias de Nampula, Zambézia e Tete, assegurando maior disponibilidade, equidade e retenção de profissionais de saúde, no período de 2027 - 2029. </a:t>
            </a:r>
          </a:p>
          <a:p>
            <a:pPr lvl="2" algn="just">
              <a:spcAft>
                <a:spcPts val="800"/>
              </a:spcAft>
            </a:pPr>
            <a:endParaRPr lang="pt-BR" sz="2200" b="1" dirty="0">
              <a:solidFill>
                <a:schemeClr val="tx1"/>
              </a:solidFill>
              <a:latin typeface="+mj-lt"/>
            </a:endParaRPr>
          </a:p>
          <a:p>
            <a:pPr lvl="2" algn="just">
              <a:spcAft>
                <a:spcPts val="800"/>
              </a:spcAft>
            </a:pPr>
            <a:r>
              <a:rPr lang="pt-BR" sz="2200" b="1" dirty="0">
                <a:solidFill>
                  <a:schemeClr val="tx1"/>
                </a:solidFill>
                <a:latin typeface="+mj-lt"/>
              </a:rPr>
              <a:t>Objectivos Específicos</a:t>
            </a:r>
          </a:p>
          <a:p>
            <a:pPr marL="342900" lvl="2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Aumentar o rácio de profissionais de saúde de 9.8 em 2025 para 21.4 em 2029 na Província de Nampula; </a:t>
            </a:r>
          </a:p>
          <a:p>
            <a:pPr marL="342900" lvl="2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Aumentar o rácio de profissionais de saúde de 10.3 em 2025 para 21.5 em 2029 na Província da Zambézia; e</a:t>
            </a:r>
          </a:p>
          <a:p>
            <a:pPr marL="342900" lvl="2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Aumentar o rácio de profissionais de saúde de 13.1 em 2025 para 21.5 em 2029 na Província de Tete.</a:t>
            </a:r>
          </a:p>
          <a:p>
            <a:pPr algn="just">
              <a:spcAft>
                <a:spcPts val="800"/>
              </a:spcAft>
            </a:pPr>
            <a:endParaRPr lang="pt-BR" sz="8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286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178C5-27DD-668E-7C7A-6DAB50CF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4F373A-D14D-AF9D-4685-99DDC31B4B2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5903B3-8562-7977-A61C-1CE03B35236C}"/>
              </a:ext>
            </a:extLst>
          </p:cNvPr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38728-CCAC-A4E3-DB95-30939BD56B89}"/>
              </a:ext>
            </a:extLst>
          </p:cNvPr>
          <p:cNvSpPr txBox="1"/>
          <p:nvPr/>
        </p:nvSpPr>
        <p:spPr>
          <a:xfrm>
            <a:off x="0" y="2778356"/>
            <a:ext cx="121005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3600" b="1" noProof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pt-BR" sz="3600" b="1" noProof="0" dirty="0">
                <a:solidFill>
                  <a:srgbClr val="FFFFFF"/>
                </a:solidFill>
                <a:latin typeface="Calibri"/>
              </a:rPr>
              <a:t>Projecções de RHS </a:t>
            </a:r>
            <a:r>
              <a:rPr lang="pt-BR" sz="3600" b="1" dirty="0">
                <a:solidFill>
                  <a:srgbClr val="FFFFFF"/>
                </a:solidFill>
                <a:latin typeface="Calibri"/>
              </a:rPr>
              <a:t>p</a:t>
            </a:r>
            <a:r>
              <a:rPr lang="pt-BR" sz="3600" b="1" noProof="0" dirty="0">
                <a:solidFill>
                  <a:srgbClr val="FFFFFF"/>
                </a:solidFill>
                <a:latin typeface="Calibri"/>
              </a:rPr>
              <a:t>ara </a:t>
            </a:r>
            <a:r>
              <a:rPr lang="pt-BR" sz="3600" b="1" dirty="0">
                <a:solidFill>
                  <a:srgbClr val="FFFFFF"/>
                </a:solidFill>
                <a:latin typeface="Calibri"/>
              </a:rPr>
              <a:t>a</a:t>
            </a:r>
            <a:r>
              <a:rPr lang="pt-BR" sz="3600" b="1" noProof="0" dirty="0">
                <a:solidFill>
                  <a:srgbClr val="FFFFFF"/>
                </a:solidFill>
                <a:latin typeface="Calibri"/>
              </a:rPr>
              <a:t>s Províncias de Nampula, Zambézia e Tete</a:t>
            </a:r>
          </a:p>
          <a:p>
            <a:pPr algn="ctr"/>
            <a:endParaRPr lang="pt-PT" sz="3600" b="1" noProof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425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4B5FBC5C-0844-981F-4A96-605C6144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46F16851-98EB-953F-9E0C-00DD0131FE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9393E-3480-22BF-9A77-3534A0F7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0" y="71120"/>
            <a:ext cx="10873740" cy="65322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PT" sz="2800" b="1" dirty="0">
                <a:latin typeface="+mj-lt"/>
                <a:cs typeface="Arial"/>
              </a:rPr>
              <a:t>Pressupostos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87C58-C47A-5B59-BC6A-E0F4657A0246}"/>
              </a:ext>
            </a:extLst>
          </p:cNvPr>
          <p:cNvSpPr/>
          <p:nvPr/>
        </p:nvSpPr>
        <p:spPr>
          <a:xfrm>
            <a:off x="538480" y="1786920"/>
            <a:ext cx="10769600" cy="4113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Crescimento da população em 10.6%, 10.7% e 12.4% para as províncias de Nampula, Zambézia e Tete, respectivamente, até 2029;</a:t>
            </a:r>
          </a:p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  <a:latin typeface="+mj-lt"/>
            </a:endParaRPr>
          </a:p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Disponibilidade orçamental para o aumento de 32.078 vagas até 2029;</a:t>
            </a:r>
          </a:p>
          <a:p>
            <a:pPr lvl="8" algn="just">
              <a:spcAft>
                <a:spcPts val="800"/>
              </a:spcAft>
            </a:pPr>
            <a:endParaRPr lang="pt-BR" sz="2000" dirty="0">
              <a:solidFill>
                <a:schemeClr val="tx1"/>
              </a:solidFill>
              <a:latin typeface="+mj-lt"/>
            </a:endParaRPr>
          </a:p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Atribuição de 74%, 66% e 66% para as três províncias em 2027, 2028 e 2029, respectivamente; e</a:t>
            </a:r>
          </a:p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  <a:latin typeface="+mj-lt"/>
            </a:endParaRPr>
          </a:p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 Taxa de retenção de profissionais de saúde, em 99% até 2029.</a:t>
            </a:r>
          </a:p>
          <a:p>
            <a:pPr lvl="8" algn="just">
              <a:spcAft>
                <a:spcPts val="800"/>
              </a:spcAft>
            </a:pPr>
            <a:endParaRPr lang="pt-BR" sz="2000" dirty="0">
              <a:solidFill>
                <a:schemeClr val="tx1"/>
              </a:solidFill>
              <a:latin typeface="Century Gothic"/>
            </a:endParaRPr>
          </a:p>
          <a:p>
            <a:pPr algn="just">
              <a:spcAft>
                <a:spcPts val="800"/>
              </a:spcAft>
            </a:pPr>
            <a:endParaRPr lang="pt-BR" sz="8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15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F4E34C57-091E-8EAE-A476-8A1D4067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A86F03F0-0AE6-06D2-C74C-7BE54C87FB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D6C4E4-8834-FD19-4C3A-F7694995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BR" sz="2800" b="1" dirty="0">
                <a:latin typeface="+mj-lt"/>
                <a:cs typeface="Arial"/>
              </a:rPr>
              <a:t>Projecção de Profissionais de Saúde de Nampula, Zambézia e Tete, 2027 - 2029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4D805B-C518-4652-3ACD-BF0CAE40D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40" y="1093000"/>
            <a:ext cx="10759947" cy="538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D069B-DC9C-8388-45F3-F3C503ED8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840" y="3952241"/>
            <a:ext cx="2488247" cy="457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803277-E8CB-0F50-4A2C-205BD8591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840" y="4998720"/>
            <a:ext cx="2488247" cy="444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E1352-F464-1DB3-36AE-E39056924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840" y="6108698"/>
            <a:ext cx="2488247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9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8BF24F20-7305-4BDC-884C-36E577ED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DBBD4453-9040-B5D7-77B8-A507055D20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862A4E-6677-3999-8D6D-117DB7EF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br>
              <a:rPr lang="pt-BR" sz="2800" b="1" dirty="0">
                <a:latin typeface="+mj-lt"/>
                <a:cs typeface="Arial"/>
              </a:rPr>
            </a:br>
            <a:r>
              <a:rPr lang="pt-BR" sz="2800" b="1" dirty="0">
                <a:latin typeface="+mj-lt"/>
                <a:cs typeface="Arial"/>
              </a:rPr>
              <a:t>Rácio de Profissionais de Saúde Por 10.000 Habitantes, em 2025 - 2029</a:t>
            </a:r>
            <a:br>
              <a:rPr lang="pt-BR" sz="2800" b="1" dirty="0">
                <a:latin typeface="+mj-lt"/>
                <a:cs typeface="Arial"/>
              </a:rPr>
            </a:br>
            <a:endParaRPr lang="pt-BR" sz="2800" b="1" dirty="0">
              <a:latin typeface="+mj-lt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62B07-4F4C-4318-CE6C-8324336E3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595120"/>
            <a:ext cx="5345413" cy="5013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ADC8FC-DF38-F7A0-2DE7-C93937B04AF8}"/>
              </a:ext>
            </a:extLst>
          </p:cNvPr>
          <p:cNvSpPr txBox="1"/>
          <p:nvPr/>
        </p:nvSpPr>
        <p:spPr>
          <a:xfrm>
            <a:off x="1705100" y="1277183"/>
            <a:ext cx="1833798" cy="307777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2041C-A25B-CBFA-7F58-6632690663F0}"/>
              </a:ext>
            </a:extLst>
          </p:cNvPr>
          <p:cNvSpPr txBox="1"/>
          <p:nvPr/>
        </p:nvSpPr>
        <p:spPr>
          <a:xfrm>
            <a:off x="7834352" y="1277182"/>
            <a:ext cx="183379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ea typeface="Cambria" panose="02040503050406030204" pitchFamily="18" charset="0"/>
              </a:rPr>
              <a:t>2029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D5C01A-EA6A-7B23-04F6-2AF71608DB54}"/>
              </a:ext>
            </a:extLst>
          </p:cNvPr>
          <p:cNvGrpSpPr/>
          <p:nvPr/>
        </p:nvGrpSpPr>
        <p:grpSpPr>
          <a:xfrm>
            <a:off x="6312706" y="1753047"/>
            <a:ext cx="5423125" cy="5013513"/>
            <a:chOff x="6457672" y="1584960"/>
            <a:chExt cx="5423125" cy="501351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E80E44-74B3-476B-2F61-A3AFE9CF6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5590" y="1584960"/>
              <a:ext cx="5255207" cy="5013513"/>
            </a:xfrm>
            <a:prstGeom prst="rect">
              <a:avLst/>
            </a:prstGeom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3418BA7-FE05-CD28-ABB2-7030CA81B5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3920" y="3048000"/>
              <a:ext cx="64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FD4928-B9F7-A3D6-D163-503E6CA69FB7}"/>
                </a:ext>
              </a:extLst>
            </p:cNvPr>
            <p:cNvSpPr txBox="1"/>
            <p:nvPr/>
          </p:nvSpPr>
          <p:spPr>
            <a:xfrm>
              <a:off x="10093960" y="2894111"/>
              <a:ext cx="1376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ea typeface="Cambria" panose="02040503050406030204" pitchFamily="18" charset="0"/>
                </a:rPr>
                <a:t>9.649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A9E17E6-6EB9-A48C-DCD0-DAD69B061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9360" y="3829715"/>
              <a:ext cx="64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BAA528-0DA0-22A8-54C3-90E696DE6E08}"/>
                </a:ext>
              </a:extLst>
            </p:cNvPr>
            <p:cNvSpPr txBox="1"/>
            <p:nvPr/>
          </p:nvSpPr>
          <p:spPr>
            <a:xfrm>
              <a:off x="9169400" y="3675826"/>
              <a:ext cx="1376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ea typeface="Cambria" panose="02040503050406030204" pitchFamily="18" charset="0"/>
                </a:rPr>
                <a:t>8</a:t>
              </a:r>
              <a:r>
                <a:rPr lang="pt-BR" sz="1400" b="1" dirty="0">
                  <a:ea typeface="Cambria" panose="02040503050406030204" pitchFamily="18" charset="0"/>
                </a:rPr>
                <a:t>.492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14C6BEF-9ABB-8EAE-3C93-B8F5865744F4}"/>
                </a:ext>
              </a:extLst>
            </p:cNvPr>
            <p:cNvCxnSpPr>
              <a:cxnSpLocks/>
            </p:cNvCxnSpPr>
            <p:nvPr/>
          </p:nvCxnSpPr>
          <p:spPr>
            <a:xfrm>
              <a:off x="7183120" y="2387600"/>
              <a:ext cx="0" cy="3448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F95CEC-0B6F-7235-B71B-0EC7B3C1C9D4}"/>
                </a:ext>
              </a:extLst>
            </p:cNvPr>
            <p:cNvSpPr txBox="1"/>
            <p:nvPr/>
          </p:nvSpPr>
          <p:spPr>
            <a:xfrm>
              <a:off x="6457672" y="2128073"/>
              <a:ext cx="1376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ea typeface="Cambria" panose="02040503050406030204" pitchFamily="18" charset="0"/>
                </a:rPr>
                <a:t>3</a:t>
              </a:r>
              <a:r>
                <a:rPr lang="pt-BR" sz="1400" b="1" dirty="0">
                  <a:ea typeface="Cambria" panose="02040503050406030204" pitchFamily="18" charset="0"/>
                </a:rPr>
                <a:t>.687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260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27888CD3-F775-2741-438B-240CE587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8283A777-EC0C-CEF2-D21A-208A78A18C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F7A517-1B6E-8671-208C-2FC4CE5B1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br>
              <a:rPr lang="pt-BR" sz="2800" b="1" dirty="0">
                <a:latin typeface="+mj-lt"/>
                <a:cs typeface="Arial"/>
              </a:rPr>
            </a:br>
            <a:r>
              <a:rPr lang="pt-BR" sz="2800" b="1" dirty="0">
                <a:latin typeface="+mj-lt"/>
                <a:cs typeface="Arial"/>
              </a:rPr>
              <a:t>Rácio de Profissionais de Saúde Por 10.000 Habitantes, em 2025 - 2029</a:t>
            </a:r>
            <a:br>
              <a:rPr lang="pt-BR" sz="2800" b="1" dirty="0">
                <a:latin typeface="+mj-lt"/>
                <a:cs typeface="Arial"/>
              </a:rPr>
            </a:br>
            <a:endParaRPr lang="pt-BR" sz="2800" b="1" dirty="0">
              <a:latin typeface="+mj-lt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9F749-2AA5-EC70-64B4-28B6A3FD4467}"/>
              </a:ext>
            </a:extLst>
          </p:cNvPr>
          <p:cNvSpPr txBox="1"/>
          <p:nvPr/>
        </p:nvSpPr>
        <p:spPr>
          <a:xfrm>
            <a:off x="6703305" y="4445675"/>
            <a:ext cx="4939333" cy="2031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PT" sz="1600" b="1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Critérios para o cálculo de rácios por categoria, 2029: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PT" sz="1600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PT" sz="16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5% - Médicos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PT" sz="16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30% - Enfermagem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PT" sz="16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30% - ESMI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PT" sz="16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35% - Outras categorias do RES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b="1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582B54-320A-388A-7E70-76F8B2EBC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2" y="3865329"/>
            <a:ext cx="6156960" cy="29012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7B0EB5-29D6-C6BA-D65E-AF804C93B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2" y="1166455"/>
            <a:ext cx="6156960" cy="2698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51D58D-921C-B3B9-0357-10ED12C32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155" y="1165361"/>
            <a:ext cx="5779305" cy="269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6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ED38-C9D1-2072-A1C9-C7E292FF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765277-D04F-1DBA-5F09-B252D275CBD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B06AE-968E-B566-9E0D-63E4F8C82ED4}"/>
              </a:ext>
            </a:extLst>
          </p:cNvPr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377E9-FA81-8732-E123-F0C1343D5E54}"/>
              </a:ext>
            </a:extLst>
          </p:cNvPr>
          <p:cNvSpPr txBox="1"/>
          <p:nvPr/>
        </p:nvSpPr>
        <p:spPr>
          <a:xfrm>
            <a:off x="0" y="2778356"/>
            <a:ext cx="12100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  </a:t>
            </a:r>
            <a:r>
              <a:rPr kumimoji="0" lang="pt-BR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Impacto Orçamental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PT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3415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8685B10B-48D3-449A-5421-D5CE6821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EAFD2910-5993-A8B2-C915-CC788FCC4A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13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3D24CC-6E11-DA7F-6285-A850FE3A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BR" sz="2800" b="1" dirty="0">
                <a:latin typeface="+mj-lt"/>
                <a:cs typeface="Arial"/>
              </a:rPr>
              <a:t>Impacto Orçamental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B456B1-6DD4-633C-5B47-8B055DAC1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797" y="5256451"/>
            <a:ext cx="2203291" cy="595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24F942-6B17-9CC7-FBD0-D119730B3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411048"/>
            <a:ext cx="10616248" cy="444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9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63DD-0E7D-1337-1203-CC388205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E0C80F-7732-277E-9E95-8E6C199A75C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11C62C-18BE-B0D0-8CEE-14620DC54D08}"/>
              </a:ext>
            </a:extLst>
          </p:cNvPr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P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9D141-86DD-98AF-8C94-29E7733998CA}"/>
              </a:ext>
            </a:extLst>
          </p:cNvPr>
          <p:cNvSpPr txBox="1"/>
          <p:nvPr/>
        </p:nvSpPr>
        <p:spPr>
          <a:xfrm>
            <a:off x="0" y="2778356"/>
            <a:ext cx="12100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  </a:t>
            </a:r>
            <a:r>
              <a:rPr kumimoji="0" lang="pt-BR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Matriz Operacional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PT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4474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9F7D7574-3CB2-F1A9-C51B-6AC4C41B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77EED15D-3BBA-7115-F7AE-40ECD826C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15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7A8B05-0385-8C0D-CD3F-9D582F23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BR" sz="2800" b="1" dirty="0">
                <a:latin typeface="+mj-lt"/>
                <a:cs typeface="Arial"/>
              </a:rPr>
              <a:t>Matriz Operacional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CD86E-D3D8-2EAB-6D10-269A5EF22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98" y="1249586"/>
            <a:ext cx="11508058" cy="512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03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B16CE448-16B3-7BA0-A4C0-D4A774D3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152590FF-10E4-07B8-C0DD-4B46792B4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16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E1542B-D9CE-8BF1-E800-0C3721A2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BR" sz="2800" b="1" dirty="0">
                <a:latin typeface="+mj-lt"/>
                <a:cs typeface="Arial"/>
              </a:rPr>
              <a:t>Matriz Operacional (2/2)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90DF17-3630-111F-F660-6AF663E3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19" y="1297909"/>
            <a:ext cx="11430186" cy="505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5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029FB530-4C66-9DC7-7D96-A8C1DF7B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68626A5D-F8AA-BFF7-7ACF-9FEB6F4130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17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37C127-3440-D796-42B1-30703616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1440"/>
            <a:ext cx="10873740" cy="865693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Font typeface="Arial"/>
            </a:pPr>
            <a:r>
              <a:rPr lang="pt-BR" sz="2800" b="1" dirty="0">
                <a:latin typeface="+mj-lt"/>
                <a:cs typeface="Arial"/>
              </a:rPr>
              <a:t>Riscos de Implementação e Medidas de Mitigação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84F36-6E5E-1773-B392-0F77B4C8D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02" y="1117600"/>
            <a:ext cx="10045578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68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ECA12363-15AD-6EDE-1255-DB467C77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c8c60d18d_4_255">
            <a:extLst>
              <a:ext uri="{FF2B5EF4-FFF2-40B4-BE49-F238E27FC236}">
                <a16:creationId xmlns:a16="http://schemas.microsoft.com/office/drawing/2014/main" id="{4502329C-E6B2-27F2-30FD-4E2C66FCE0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2088" y="6477000"/>
            <a:ext cx="5699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2000" b="1" i="0" u="none" strike="noStrike" cap="none">
                <a:latin typeface="Century Gothic"/>
                <a:ea typeface="Century Gothic"/>
                <a:cs typeface="Century Gothic"/>
                <a:sym typeface="Century Gothic"/>
              </a:rPr>
              <a:t>18</a:t>
            </a:fld>
            <a:endParaRPr sz="2000" b="1" i="0" u="none" strike="noStrike" cap="none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28557-023B-108C-E788-4AFC3F28CF6F}"/>
              </a:ext>
            </a:extLst>
          </p:cNvPr>
          <p:cNvSpPr/>
          <p:nvPr/>
        </p:nvSpPr>
        <p:spPr>
          <a:xfrm>
            <a:off x="711200" y="2645261"/>
            <a:ext cx="107696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8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  <a:latin typeface="Century Gothic"/>
            </a:endParaRPr>
          </a:p>
          <a:p>
            <a:pPr lvl="8" algn="ctr">
              <a:spcAft>
                <a:spcPts val="800"/>
              </a:spcAft>
            </a:pPr>
            <a:r>
              <a:rPr lang="pt-BR" sz="5400" b="1" dirty="0">
                <a:solidFill>
                  <a:schemeClr val="tx1"/>
                </a:solidFill>
                <a:latin typeface="Century Gothic"/>
              </a:rPr>
              <a:t>OBRIGADO </a:t>
            </a:r>
          </a:p>
          <a:p>
            <a:pPr lvl="8" algn="just">
              <a:spcAft>
                <a:spcPts val="800"/>
              </a:spcAft>
            </a:pPr>
            <a:endParaRPr lang="pt-BR" sz="2000" dirty="0">
              <a:solidFill>
                <a:schemeClr val="tx1"/>
              </a:solidFill>
              <a:latin typeface="Century Gothic"/>
            </a:endParaRPr>
          </a:p>
          <a:p>
            <a:pPr algn="just">
              <a:spcAft>
                <a:spcPts val="800"/>
              </a:spcAft>
            </a:pPr>
            <a:endParaRPr lang="pt-BR" sz="800" kern="1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12932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5101</TotalTime>
  <Words>679</Words>
  <Application>Microsoft Office PowerPoint</Application>
  <PresentationFormat>Widescreen</PresentationFormat>
  <Paragraphs>85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Arial</vt:lpstr>
      <vt:lpstr>Noto Sans Symbols</vt:lpstr>
      <vt:lpstr>Century Gothic</vt:lpstr>
      <vt:lpstr>Cambria</vt:lpstr>
      <vt:lpstr>Times New Roman</vt:lpstr>
      <vt:lpstr>Slice</vt:lpstr>
      <vt:lpstr>PowerPoint Presentation</vt:lpstr>
      <vt:lpstr>Estrutura da Apresentação</vt:lpstr>
      <vt:lpstr>Objectivo da Apresentação</vt:lpstr>
      <vt:lpstr>Contextualização (1/2)</vt:lpstr>
      <vt:lpstr>Contextualização (2/2)</vt:lpstr>
      <vt:lpstr>Objectivo do Plano</vt:lpstr>
      <vt:lpstr>PowerPoint Presentation</vt:lpstr>
      <vt:lpstr>Pressupostos</vt:lpstr>
      <vt:lpstr>Projecção de Profissionais de Saúde de Nampula, Zambézia e Tete, 2027 - 2029</vt:lpstr>
      <vt:lpstr> Rácio de Profissionais de Saúde Por 10.000 Habitantes, em 2025 - 2029 </vt:lpstr>
      <vt:lpstr> Rácio de Profissionais de Saúde Por 10.000 Habitantes, em 2025 - 2029 </vt:lpstr>
      <vt:lpstr>PowerPoint Presentation</vt:lpstr>
      <vt:lpstr>Impacto Orçamental</vt:lpstr>
      <vt:lpstr>PowerPoint Presentation</vt:lpstr>
      <vt:lpstr>Matriz Operacional </vt:lpstr>
      <vt:lpstr>Matriz Operacional (2/2)</vt:lpstr>
      <vt:lpstr>Riscos de Implementação e Medidas de Mitigação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137</cp:revision>
  <dcterms:created xsi:type="dcterms:W3CDTF">2025-07-14T08:03:25Z</dcterms:created>
  <dcterms:modified xsi:type="dcterms:W3CDTF">2026-08-27T08:11:35Z</dcterms:modified>
</cp:coreProperties>
</file>